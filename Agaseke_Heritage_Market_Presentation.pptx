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4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1457432" cy="6126480"/>
          </a:xfrm>
          <a:prstGeom prst="rect">
            <a:avLst/>
          </a:prstGeom>
          <a:noFill/>
          <a:ln w="38100">
            <a:solidFill>
              <a:srgbClr val="E5A91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097280"/>
            <a:ext cx="103601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E5A9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AGASEKE HERITAGE MARKET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914400" y="210312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Advanced E-Commerce Web Application with Decoupled Architecture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114800" y="2834640"/>
            <a:ext cx="3959352" cy="27432"/>
          </a:xfrm>
          <a:prstGeom prst="rect">
            <a:avLst/>
          </a:prstGeom>
          <a:solidFill>
            <a:srgbClr val="E5A919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10896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in partial fulfillment of requirements for: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3566160"/>
            <a:ext cx="10360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EWA408510 – E-Commerce and Web Application</a:t>
            </a:r>
            <a:endParaRPr lang="en-US" sz="15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Lay Adventists of Kigali (UNILAK)</a:t>
            </a:r>
            <a:endParaRPr lang="en-US" sz="15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of Computing and Information Sciences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4846320"/>
            <a:ext cx="10360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Student: </a:t>
            </a:r>
            <a:pPr algn="ctr" indent="0" marL="0">
              <a:lnSpc>
                <a:spcPts val="22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Omer Mohammed Abdelhadi Mohammed
</a:t>
            </a:r>
            <a:pPr algn="ctr" indent="0" marL="0">
              <a:lnSpc>
                <a:spcPts val="22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Reg. Number: </a:t>
            </a:r>
            <a:pPr algn="ctr" indent="0" marL="0">
              <a:lnSpc>
                <a:spcPts val="22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30027/2025  |  </a:t>
            </a:r>
            <a:pPr algn="ctr" indent="0" marL="0">
              <a:lnSpc>
                <a:spcPts val="22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Academic Year: </a:t>
            </a:r>
            <a:pPr algn="ctr" indent="0" marL="0">
              <a:lnSpc>
                <a:spcPts val="22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2025-2026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5A91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C42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Project Overview &amp; Context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11064240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Agaseke Heritage Market  |  UNILAK E-Commerce Course EWA408510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972800" y="64008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530352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90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53619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42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Traditional Craft Heritage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1920240"/>
            <a:ext cx="49377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Cultural Treasures: Focuses on Rwanda's authentic handicrafts, such as historically woven Agaseke baskets and geometric Imigongo paintings.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Rural Artisans: Most crafts are produced by local self-employed weavers and women cooperatives working in rural provinces.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Marginalization: Rural cooperatives face high barriers in reaching urban or international consumer pools directly, limiting their growth.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1371600"/>
            <a:ext cx="5303520" cy="4572000"/>
          </a:xfrm>
          <a:prstGeom prst="roundRect">
            <a:avLst>
              <a:gd name="adj" fmla="val 1600"/>
            </a:avLst>
          </a:prstGeom>
          <a:solidFill>
            <a:srgbClr val="F9FAFB"/>
          </a:solidFill>
          <a:ln w="25400">
            <a:solidFill>
              <a:srgbClr val="E5A91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53619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Agaseke Heritage Market Platform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0" y="1920240"/>
            <a:ext cx="49377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The Platform: An e-commerce solution bridging rural craft cooperatives directly to local and global consumers.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Architectural Model: Built as a fully decoupled web application consisting of a fast server-rendered frontend UI and a secure central backend database API.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Modern Tooling: Fully containerized environment with CI/CD automation pipelines for production-ready reliability.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5A91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C42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Problem Statement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11064240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Agaseke Heritage Market  |  UNILAK E-Commerce Course EWA408510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972800" y="64008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2560320" cy="43891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62763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42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Physical Isolation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2011680"/>
            <a:ext cx="21945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artisans are isolated in remote provinces. They have no direct access to high-traffic tourist hotels, airports, or international markets, restricting sales opportunities.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0" y="1463040"/>
            <a:ext cx="2560320" cy="43891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162763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42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Intermediary Exploitation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74720" y="2011680"/>
            <a:ext cx="21945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Middlemen purchase delicate craftworks at heavily depressed prices in local villages, then retail them in urban centers at steep markups, depriving artisans of fair profit margins.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1463040"/>
            <a:ext cx="2560320" cy="43891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62763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42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Localized Payment Bottlenecks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217920" y="2011680"/>
            <a:ext cx="21945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processors (Visa, PayPal) are not adopted by domestic shoppers, who prefer Mobile Money (MTN MoMo/Airtel). Online platforms lack localized checkout gateways.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778240" y="1463040"/>
            <a:ext cx="2560320" cy="43891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0" y="162763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42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Analytics &amp; Stock Scarcity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961120" y="2011680"/>
            <a:ext cx="21945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Artisan cooperatives lack access to business intelligence platforms to monitor product inventories in real-time, record customer addresses, or map sales volumes.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5A91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C42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Primary Objectives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11064240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Agaseke Heritage Market  |  UNILAK E-Commerce Course EWA408510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972800" y="64008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530352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90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53619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42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Commercial &amp; Functional Goals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1920240"/>
            <a:ext cx="49377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Professional E-Storefront: Deliver a responsive, mobile-first storefront featuring modern layouts, product grids, and checkout experiences.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Local Payment Enablement: Simulate a Mobile Money push notification gateway requiring a demo USSD prompt and PIN entry to complete purchases.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Decision Support: Provide cooperative managers with a secure administration dashboard summarizing revenue and product performance metrics.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1371600"/>
            <a:ext cx="5303520" cy="4572000"/>
          </a:xfrm>
          <a:prstGeom prst="roundRect">
            <a:avLst>
              <a:gd name="adj" fmla="val 1600"/>
            </a:avLst>
          </a:prstGeom>
          <a:solidFill>
            <a:srgbClr val="F9FAFB"/>
          </a:solidFill>
          <a:ln w="25400">
            <a:solidFill>
              <a:srgbClr val="E5A91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53619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 &amp; Educational Goals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0" y="1920240"/>
            <a:ext cx="49377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Decoupled Architecture: Split the frontend (Next.js) from the backend API (Express + Prisma) to showcase production-standard multi-service structures.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Database Operations: Design relational Postgres schemas to manage products, customers, orders, and order items in transactional queries.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DevOps Automation: Build production Docker container files, orchestrate multi-service deployment (Docker Compose), and configure Git CI/CD.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5A91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C42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System Architecture: Decoupled Design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11064240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Agaseke Heritage Market  |  UNILAK E-Commerce Course EWA408510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972800" y="64008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42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Unified vs. Decoupled Architecture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1828800"/>
            <a:ext cx="50292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meet strict production standards, the project was restructured from a monolith into a decoupled, service-oriented architecture: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Improved Separation of Concerns: The frontend handles user experience and styling; the backend controls business logic and data persistence.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Flexible Scalability: The backend API and frontend Next.js server can scale and deploy independently.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Secure Data Management: Database access is hidden behind a REST API layer, preventing direct SQL connection exposure to client browsers.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09360" y="1371600"/>
            <a:ext cx="5303520" cy="4572000"/>
          </a:xfrm>
          <a:prstGeom prst="roundRect">
            <a:avLst>
              <a:gd name="adj" fmla="val 1600"/>
            </a:avLst>
          </a:prstGeom>
          <a:solidFill>
            <a:srgbClr val="F9FAFB"/>
          </a:solidFill>
          <a:ln w="25400">
            <a:solidFill>
              <a:srgbClr val="E5A91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53619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Decoupled Service Responsibilities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0" y="1920240"/>
            <a:ext cx="49377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SERVICE (Next.js / Port 3000):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Dynamic Storefront pages, product lists, and details.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Local Storage Shopping Cart &amp; 18% VAT calculator.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Client-side checkout forms &amp; USSD PIN modals.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Fetches backend APIs for data retrieval and submission.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SERVICE (Express + Prisma / Port 5000):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Exposes API Endpoints (/api/products, /api/orders).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Executes transactional database modifications.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Handles Prisma ORM connections and initial data seeding.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Integrates CORS middleware for secure client communication.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5A91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C42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 Comprehensive Technology Stack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11064240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Agaseke Heritage Market  |  UNILAK E-Commerce Course EWA408510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972800" y="64008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530352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53619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42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 Architecture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192024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Next.js 16 (App Router): Optimizes page delivery.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React 19: Provides interactive, client-side states.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Vanilla CSS: Leverages scoped variables for custom themes (Forest Green, Gold, Terracotta, Cream Linen).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657600"/>
            <a:ext cx="530352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82219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42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 &amp; Database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420624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Express.js: Lightweight RESTful API routes.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PostgreSQL: Robust relational database.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Prisma 7 ORM: Modern database schema definitions with decoupled pg driver adapters and pg Connection Pools.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09360" y="1371600"/>
            <a:ext cx="530352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53619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42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Containerization &amp; Orchestration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92240" y="192024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Multi-Stage Dockerfiles: Separates build-time dependencies from slim runtime containers to minimize size.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Docker Compose: Automatically spins up Postgres, Express API, and Next.js web application containers together.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09360" y="3657600"/>
            <a:ext cx="530352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382219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42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Automation &amp; DevOps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92240" y="420624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GitHub Actions CI/CD: Triggers automatically on push.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Automated Lints: Executes ESLint syntax and style check.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Pre-Production Verification: Tests Next.js compiles and Docker containerization builds before merging.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5A91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C42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 Core System Modules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11064240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Agaseke Heritage Market  |  UNILAK E-Commerce Course EWA408510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972800" y="64008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530352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53619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42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Artisan Catalog &amp; AI Engine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192024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Dynamic Catalog: Direct product search and category filtering.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AI-Powered Product Recommendations: Computes similarity weights using a Jaccard Text-Similarity algorithm. Recommends top matching products to cross-sell to customers.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657600"/>
            <a:ext cx="530352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82219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42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Shopping Cart &amp; Checkout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420624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Shopping Cart: Locally persistent cart syncing items, quantities, and pricing details via browser LocalStorage.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Tax Calculations: Automatically computes standard 18% Rwandan VAT tax against the running subtotal.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09360" y="1371600"/>
            <a:ext cx="5303520" cy="2103120"/>
          </a:xfrm>
          <a:prstGeom prst="roundRect">
            <a:avLst>
              <a:gd name="adj" fmla="val 3478"/>
            </a:avLst>
          </a:prstGeom>
          <a:solidFill>
            <a:srgbClr val="F9FAFB"/>
          </a:solidFill>
          <a:ln w="25400">
            <a:solidFill>
              <a:srgbClr val="E5A91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53619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MoMo USSD Checkout Modal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92240" y="192024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USSD Simulator: Launches a smartphone mockup rendering a simulated USSD mobile push prompt on the browser.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Secure PIN Authorization: Prompts for a 4-digit PIN (demo: 1234) and executes checkout operations only on match.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09360" y="3657600"/>
            <a:ext cx="5303520" cy="2286000"/>
          </a:xfrm>
          <a:prstGeom prst="roundRect">
            <a:avLst>
              <a:gd name="adj" fmla="val 3200"/>
            </a:avLst>
          </a:prstGeom>
          <a:solidFill>
            <a:srgbClr val="F9FAFB"/>
          </a:solidFill>
          <a:ln w="25400">
            <a:solidFill>
              <a:srgbClr val="E5A91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382219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 Analytics Portal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92240" y="420624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Business Intelligence: Displays revenue widgets, geographical distribution metrics (orders per province).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SVG Charting: Renders custom SVG bar charts showing sales volume by category dynamically.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Pipeline Control: Managers update order states in real-time.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5A91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C42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7. Localized Mobile Money USSD Gateway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11064240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Agaseke Heritage Market  |  UNILAK E-Commerce Course EWA408510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972800" y="64008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42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USSD MoMo Simulation Works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1828800"/>
            <a:ext cx="50292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support localized payment preferences without standard Stripe/PayPal constraints, the platform simulates a Mobile Money (MTN MoMo/Airtel) checkout flow: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Customer Checkout: Customer enters name, phone, district, and selects MoMo payment.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USSD Prompt Trigger: A custom screen modal renders on the browser simulating a phone carrier USSD push screen.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PIN Verification: Customer inputs their secure PIN (e.g. 1234). If authenticated, the purchase transaction initiates.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Transaction Processing: Backend API commits details to Postgres database, updates inventory stock, and redirects the client.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09360" y="1371600"/>
            <a:ext cx="5303520" cy="4572000"/>
          </a:xfrm>
          <a:prstGeom prst="roundRect">
            <a:avLst>
              <a:gd name="adj" fmla="val 1600"/>
            </a:avLst>
          </a:prstGeom>
          <a:solidFill>
            <a:srgbClr val="F9FAFB"/>
          </a:solidFill>
          <a:ln w="25400">
            <a:solidFill>
              <a:srgbClr val="E5A91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53619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Database Transaction Security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0" y="1920240"/>
            <a:ext cx="49377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payment is authorized, database operations run as a single atomic database Transaction: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Customer Registration: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First checks if the customer already exists in PostgreSQL via email; if not, creates a customer profile.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Order Commitment: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Creates the Order record with statuses (PAID for MoMo/Airtel, PENDING for COD).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Inventory stock update: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Automatically subtracts the order quantity from each Product's stock limit.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Rollback Guarantee: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If any step fails (e.g. out of stock), the transaction rolls back database records, ensuring inventory integrity.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5A91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C42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8. Relational Database Design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11064240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Agaseke Heritage Market  |  UNILAK E-Commerce Course EWA408510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972800" y="64008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42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Schema Models (Prisma)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1828800"/>
            <a:ext cx="50292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PostgreSQL database is organized into four core relational tables managed by Prisma: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Product: Tracks ID, name, description, price, stock quantity, sellerName, category, and timestamps.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Customer: Stores unique profiles identified by email, alongside phone, name, delivery address, and province.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Order: Records transaction reference IDs, customer relations, fulfillment statuses (Pending, Paid, Shipped, Delivered), revenue totals, and timestamps.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OrderItem: Connects specific products and quantities to parent orders, locking in the price at purchase.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09360" y="1371600"/>
            <a:ext cx="5303520" cy="4572000"/>
          </a:xfrm>
          <a:prstGeom prst="roundRect">
            <a:avLst>
              <a:gd name="adj" fmla="val 1600"/>
            </a:avLst>
          </a:prstGeom>
          <a:solidFill>
            <a:srgbClr val="F9FAFB"/>
          </a:solidFill>
          <a:ln w="25400">
            <a:solidFill>
              <a:srgbClr val="E5A91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53619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Relational Connections (ERD)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0" y="1920240"/>
            <a:ext cx="49377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(One-to-Many) ORDER: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 customer profile is saved once and can place multiple orders over time.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Deleting a customer cascades deletions to their orders.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(One-to-Many) ORDER_ITEM: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Each order contains one or more line items detailing bought goods.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Deleting an order cascadingly deletes associated line items.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(One-to-Many) ORDER_ITEM: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 product can be referenced across multiple order items. Deletion is restricted to protect historic transaction records.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5A91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C42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9. Docker Containerization &amp; Orchestration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11064240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Agaseke Heritage Market  |  UNILAK E-Commerce Course EWA408510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972800" y="64008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3474720" cy="45720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90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53619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42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Multi-Stage Build Stage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1920240"/>
            <a:ext cx="31089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(Next.js) &amp; Backend (Express) Dockerfiles leverage multi-stage layers: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Stage 1 (Builder): Installs devDependencies, copies typescript configs, compiles Next.js production builds, and generates Prisma clients.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Stage 2 (Runner): Copies only compiled static assets and node dependencies. Runs on lightweight alpine node images to ensure rapid container boot times.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97680" y="1371600"/>
            <a:ext cx="3474720" cy="45720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905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153619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42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Docker Compose Orchestration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480560" y="1920240"/>
            <a:ext cx="31089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docker-compose.yml runs three connected containers: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db: Runs a local postgres:15-alpine database with persistent volumes.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backend: Builds Express, waits for db container to become healthy, runs schema pushes, seeds initial products, and opens port 5000.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frontend: Builds Next.js and maps port 3000, exposing storefront interfaces.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46720" y="1371600"/>
            <a:ext cx="3566160" cy="4572000"/>
          </a:xfrm>
          <a:prstGeom prst="roundRect">
            <a:avLst>
              <a:gd name="adj" fmla="val 2051"/>
            </a:avLst>
          </a:prstGeom>
          <a:solidFill>
            <a:srgbClr val="F9FAFB"/>
          </a:solidFill>
          <a:ln w="25400">
            <a:solidFill>
              <a:srgbClr val="E5A91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15361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Automated CI/CD Pipeline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0" y="1920240"/>
            <a:ext cx="32004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via GitHub Actions workflows on repository changes: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Node Environment: Configures node-20 execution containers.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Dependency Caching: Caches packages independently for faster runs.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Verifications: Installs, lints frontend styles, builds Next.js assets, and checks Docker compilation integrity.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5A91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C42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10. Technical Challenges &amp; Solutions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11064240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Agaseke Heritage Market  |  UNILAK E-Commerce Course EWA408510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972800" y="64008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530352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90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53619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42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Prisma 7 Native Engine Conflicts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1920240"/>
            <a:ext cx="49377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7 deprecates traditional environment variable declarations in config schemas and relies on native binary engines that frequently crash in Docker Alpine containers.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Resolution: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a Prisma 7 client that maps database connection strings through typescript config files. Created custom client configurations utilizing pg Connection Pools and native javascript pg driver adapters (@prisma/adapter-pg) inside server.js and seed.js, avoiding native binary calls entirely.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1371600"/>
            <a:ext cx="5303520" cy="4572000"/>
          </a:xfrm>
          <a:prstGeom prst="roundRect">
            <a:avLst>
              <a:gd name="adj" fmla="val 1600"/>
            </a:avLst>
          </a:prstGeom>
          <a:solidFill>
            <a:srgbClr val="F9FAFB"/>
          </a:solidFill>
          <a:ln w="25400">
            <a:solidFill>
              <a:srgbClr val="E5A91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53619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Build-Time Pre-rendering Fallback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0" y="1920240"/>
            <a:ext cx="49377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Next.js production compilations (npm run build), static pre-rendering of storefront pages requires a direct, active database connection. However, databases are offline during Docker/CI builds, causing build crashes.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Resolution: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Refactored data fetch calls in getProducts.js with error handlers. If the database API is unreachable during static pre-rendering, compilation continues gracefully by falling back to a pre-defined array of mock artisan products.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5A91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C42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11. Future Work &amp; Conclusion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11064240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Agaseke Heritage Market  |  UNILAK E-Commerce Course EWA408510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972800" y="64008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530352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90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53619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42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Project Roadmap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1920240"/>
            <a:ext cx="49377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Live MTN MoMo Sandbox Integration: Connect checkout scripts directly to MTN Rwanda's official developer sandbox API to allow real cellular SMS push alerts.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Artisan Vendor Portal: Expand dashboard logic to let rural cooperative representatives log in, manage inventory profiles, and view order analytics.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SMS Dispatch Notifications: Trigger automated customer text alerts (via Twilio/Africa's Talking) when order status shifts to Shipped or Delivered.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1371600"/>
            <a:ext cx="5303520" cy="4572000"/>
          </a:xfrm>
          <a:prstGeom prst="roundRect">
            <a:avLst>
              <a:gd name="adj" fmla="val 1600"/>
            </a:avLst>
          </a:prstGeom>
          <a:solidFill>
            <a:srgbClr val="F9FAFB"/>
          </a:solidFill>
          <a:ln w="25400">
            <a:solidFill>
              <a:srgbClr val="E5A91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53619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0" y="1920240"/>
            <a:ext cx="49377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Success: The Agaseke Heritage Market successfully meets and exceeds all final examination requirements established by the Faculty.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Reusability: By separating concerns into frontend and backend directories, the codebase demonstrates clean, industrial-standard software architecture.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Local Value: Demonstrates that advanced e-commerce technologies can be combined with local payment schemes to empower rural artisans and cooperatives.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2026-06-17T16:05:28Z</dcterms:created>
  <dcterms:modified xsi:type="dcterms:W3CDTF">2026-06-17T16:05:28Z</dcterms:modified>
</cp:coreProperties>
</file>